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A40"/>
          </a:solidFill>
          <a:ln w="12700">
            <a:solidFill>
              <a:srgbClr val="0F1A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AgentForge — Framework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APEO Goal Loop · OpenAI GPT · YAML-Defined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926080" y="960120"/>
            <a:ext cx="3291840" cy="384048"/>
          </a:xfrm>
          <a:prstGeom prst="rect">
            <a:avLst/>
          </a:prstGeom>
          <a:solidFill>
            <a:srgbClr val="2D3A5E"/>
          </a:solidFill>
          <a:ln w="12700">
            <a:solidFill>
              <a:srgbClr val="5B8D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926080" y="96012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agent.yaml  ·  single file defines the agent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1344168"/>
            <a:ext cx="0" cy="201168"/>
          </a:xfrm>
          <a:prstGeom prst="line">
            <a:avLst/>
          </a:prstGeom>
          <a:noFill/>
          <a:ln w="19050">
            <a:solidFill>
              <a:srgbClr val="5B8D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1545336"/>
            <a:ext cx="2743200" cy="365760"/>
          </a:xfrm>
          <a:prstGeom prst="rect">
            <a:avLst/>
          </a:prstGeom>
          <a:solidFill>
            <a:srgbClr val="7B61D4"/>
          </a:solidFill>
          <a:ln w="12700">
            <a:solidFill>
              <a:srgbClr val="7B61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54533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AgentBuilder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911096"/>
            <a:ext cx="0" cy="201168"/>
          </a:xfrm>
          <a:prstGeom prst="line">
            <a:avLst/>
          </a:prstGeom>
          <a:noFill/>
          <a:ln w="19050">
            <a:solidFill>
              <a:srgbClr val="5B8D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112264"/>
            <a:ext cx="8595360" cy="1664208"/>
          </a:xfrm>
          <a:prstGeom prst="rect">
            <a:avLst/>
          </a:prstGeom>
          <a:solidFill>
            <a:srgbClr val="1A2550"/>
          </a:solidFill>
          <a:ln w="9525">
            <a:solidFill>
              <a:srgbClr val="5B8DEF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11480" y="21305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runtime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2340864"/>
            <a:ext cx="237744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23408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5968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· persona · role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46120" y="2340864"/>
            <a:ext cx="2377440" cy="457200"/>
          </a:xfrm>
          <a:prstGeom prst="rect">
            <a:avLst/>
          </a:prstGeom>
          <a:solidFill>
            <a:srgbClr val="7B61D4"/>
          </a:solidFill>
          <a:ln w="12700">
            <a:solidFill>
              <a:srgbClr val="7B61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46120" y="23408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46120" y="25968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· temp 0.2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89320" y="2340864"/>
            <a:ext cx="2377440" cy="45720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89320" y="23408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89320" y="25968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· long · episodic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" y="2944368"/>
            <a:ext cx="1828800" cy="457200"/>
          </a:xfrm>
          <a:prstGeom prst="rect">
            <a:avLst/>
          </a:prstGeom>
          <a:solidFill>
            <a:srgbClr val="B07315"/>
          </a:solidFill>
          <a:ln w="12700">
            <a:solidFill>
              <a:srgbClr val="B0731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" y="29443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32004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· builtin · MCP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78608" y="2944368"/>
            <a:ext cx="1828800" cy="457200"/>
          </a:xfrm>
          <a:prstGeom prst="rect">
            <a:avLst/>
          </a:prstGeom>
          <a:solidFill>
            <a:srgbClr val="7A3020"/>
          </a:solidFill>
          <a:ln w="12700">
            <a:solidFill>
              <a:srgbClr val="7A302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578608" y="29443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578608" y="32004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workflows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54296" y="2944368"/>
            <a:ext cx="1828800" cy="4572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654296" y="29443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54296" y="32004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· output · PII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729984" y="2944368"/>
            <a:ext cx="1828800" cy="457200"/>
          </a:xfrm>
          <a:prstGeom prst="rect">
            <a:avLst/>
          </a:prstGeom>
          <a:solidFill>
            <a:srgbClr val="1A6B35"/>
          </a:solidFill>
          <a:ln w="12700">
            <a:solidFill>
              <a:srgbClr val="1A6B3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729984" y="29443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729984" y="32004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· never · cond.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0" y="3776472"/>
            <a:ext cx="0" cy="182880"/>
          </a:xfrm>
          <a:prstGeom prst="line">
            <a:avLst/>
          </a:prstGeom>
          <a:noFill/>
          <a:ln w="19050">
            <a:solidFill>
              <a:srgbClr val="5B8DE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3959352"/>
            <a:ext cx="8595360" cy="658368"/>
          </a:xfrm>
          <a:prstGeom prst="rect">
            <a:avLst/>
          </a:prstGeom>
          <a:solidFill>
            <a:srgbClr val="0F1F45"/>
          </a:solidFill>
          <a:ln w="9525">
            <a:solidFill>
              <a:srgbClr val="5B8D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39776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APEO goal loop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02920" y="4151376"/>
            <a:ext cx="1737360" cy="347472"/>
          </a:xfrm>
          <a:prstGeom prst="rect">
            <a:avLst/>
          </a:prstGeom>
          <a:solidFill>
            <a:srgbClr val="7B61D4"/>
          </a:solidFill>
          <a:ln w="12700">
            <a:solidFill>
              <a:srgbClr val="7B61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415137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240280" y="4325112"/>
            <a:ext cx="338328" cy="0"/>
          </a:xfrm>
          <a:prstGeom prst="line">
            <a:avLst/>
          </a:prstGeom>
          <a:noFill/>
          <a:ln w="19050">
            <a:solidFill>
              <a:srgbClr val="5B8DE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578608" y="4151376"/>
            <a:ext cx="173736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78608" y="415137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315968" y="4325112"/>
            <a:ext cx="338328" cy="0"/>
          </a:xfrm>
          <a:prstGeom prst="line">
            <a:avLst/>
          </a:prstGeom>
          <a:noFill/>
          <a:ln w="19050">
            <a:solidFill>
              <a:srgbClr val="5B8DE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54296" y="4151376"/>
            <a:ext cx="1737360" cy="347472"/>
          </a:xfrm>
          <a:prstGeom prst="rect">
            <a:avLst/>
          </a:prstGeom>
          <a:solidFill>
            <a:srgbClr val="B07315"/>
          </a:solidFill>
          <a:ln w="12700">
            <a:solidFill>
              <a:srgbClr val="B0731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54296" y="415137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391656" y="4325112"/>
            <a:ext cx="338328" cy="0"/>
          </a:xfrm>
          <a:prstGeom prst="line">
            <a:avLst/>
          </a:prstGeom>
          <a:noFill/>
          <a:ln w="19050">
            <a:solidFill>
              <a:srgbClr val="5B8DE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729984" y="4151376"/>
            <a:ext cx="1737360" cy="347472"/>
          </a:xfrm>
          <a:prstGeom prst="rect">
            <a:avLst/>
          </a:prstGeom>
          <a:solidFill>
            <a:srgbClr val="7A3020"/>
          </a:solidFill>
          <a:ln w="12700">
            <a:solidFill>
              <a:srgbClr val="7A302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29984" y="415137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320040" y="4636008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loops until goal achieved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0" y="4873752"/>
            <a:ext cx="9144000" cy="0"/>
          </a:xfrm>
          <a:prstGeom prst="line">
            <a:avLst/>
          </a:prstGeom>
          <a:noFill/>
          <a:ln w="6350">
            <a:solidFill>
              <a:srgbClr val="5B8DE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0" y="4892040"/>
            <a:ext cx="91440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AgentForge  ·  YAML-driven · OpenAI GPT · Goal-oriented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NowBot — ServiceNow Agent Use Cases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06640" y="164592"/>
            <a:ext cx="1554480" cy="457200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0" y="16459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APEO-Powered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896112"/>
            <a:ext cx="2788920" cy="4069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896112"/>
            <a:ext cx="2788920" cy="109728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8328" y="1060704"/>
            <a:ext cx="347472" cy="347472"/>
          </a:xfrm>
          <a:prstGeom prst="ellipse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" y="1060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0664" y="106070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Incident — VPN Outage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8328" y="1499616"/>
            <a:ext cx="658368" cy="219456"/>
          </a:xfrm>
          <a:prstGeom prst="rect">
            <a:avLst/>
          </a:prstGeom>
          <a:solidFill>
            <a:srgbClr val="7B61D4"/>
          </a:solidFill>
          <a:ln w="12700">
            <a:solidFill>
              <a:srgbClr val="7B61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" y="149961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38328" y="1746504"/>
            <a:ext cx="25694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goal: restore VPN · recalls INC0041822 (same CI, 3 wks ago) · KB workaround found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38328" y="2267712"/>
            <a:ext cx="658368" cy="21945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" y="226771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8328" y="2514600"/>
            <a:ext cx="25694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create INC priority 1 · Step 2: CMDB impact · Step 3: invoke resolve_p1 skill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38328" y="3035808"/>
            <a:ext cx="658368" cy="219456"/>
          </a:xfrm>
          <a:prstGeom prst="rect">
            <a:avLst/>
          </a:prstGeom>
          <a:solidFill>
            <a:srgbClr val="B07315"/>
          </a:solidFill>
          <a:ln w="12700">
            <a:solidFill>
              <a:srgbClr val="B0731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" y="303580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38328" y="3282696"/>
            <a:ext cx="25694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snow_api → INC0089431 created · 14 services mapped · Oncall paged · Teams war room opened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38328" y="3803904"/>
            <a:ext cx="658368" cy="219456"/>
          </a:xfrm>
          <a:prstGeom prst="rect">
            <a:avLst/>
          </a:prstGeom>
          <a:solidFill>
            <a:srgbClr val="7A3020"/>
          </a:solidFill>
          <a:ln w="12700">
            <a:solidFill>
              <a:srgbClr val="7A3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" y="380390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38328" y="4050792"/>
            <a:ext cx="25694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0.6 — engineers engaged, VPN still down · loops again to monitor restoration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8600" y="4581144"/>
            <a:ext cx="2788920" cy="384048"/>
          </a:xfrm>
          <a:prstGeom prst="rect">
            <a:avLst/>
          </a:prstGeom>
          <a:solidFill>
            <a:srgbClr val="E05C4B"/>
          </a:solidFill>
          <a:ln w="12700">
            <a:solidFill>
              <a:srgbClr val="E05C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58114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engage: 4 min  ·  Manual equivalent: 20 min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154680" y="896112"/>
            <a:ext cx="2788920" cy="4069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54680" y="896112"/>
            <a:ext cx="2788920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64408" y="1060704"/>
            <a:ext cx="347472" cy="3474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64408" y="1060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666744" y="106070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Advisory — Firewall Rule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64408" y="1499616"/>
            <a:ext cx="658368" cy="219456"/>
          </a:xfrm>
          <a:prstGeom prst="rect">
            <a:avLst/>
          </a:prstGeom>
          <a:solidFill>
            <a:srgbClr val="7B61D4"/>
          </a:solidFill>
          <a:ln w="12700">
            <a:solidFill>
              <a:srgbClr val="7B61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64408" y="149961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264408" y="1746504"/>
            <a:ext cx="25694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get CHG approved for new firewall rule · recalls 2 similar CHGs approved last quarter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64408" y="2267712"/>
            <a:ext cx="658368" cy="21945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64408" y="226771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264408" y="2514600"/>
            <a:ext cx="25694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check change freeze calendar · Step 2: risk score · Step 3: invoke change_advisory skill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64408" y="3035808"/>
            <a:ext cx="658368" cy="219456"/>
          </a:xfrm>
          <a:prstGeom prst="rect">
            <a:avLst/>
          </a:prstGeom>
          <a:solidFill>
            <a:srgbClr val="B07315"/>
          </a:solidFill>
          <a:ln w="12700">
            <a:solidFill>
              <a:srgbClr val="B0731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64408" y="303580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264408" y="3282696"/>
            <a:ext cx="25694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score: Medium · CAB email drafted · Maintenance window Thu 02:00–04:00 proposed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264408" y="3803904"/>
            <a:ext cx="658368" cy="219456"/>
          </a:xfrm>
          <a:prstGeom prst="rect">
            <a:avLst/>
          </a:prstGeom>
          <a:solidFill>
            <a:srgbClr val="7A3020"/>
          </a:solidFill>
          <a:ln w="12700">
            <a:solidFill>
              <a:srgbClr val="7A302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64408" y="380390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264408" y="4050792"/>
            <a:ext cx="25694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0.8 — awaiting CAB vote · guardrail blocks auto-approval · human confirms via Slack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154680" y="4581144"/>
            <a:ext cx="278892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46120" y="458114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 prep time: 6 min  ·  Change window auto-scheduled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080760" y="896112"/>
            <a:ext cx="2788920" cy="4069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080760" y="896112"/>
            <a:ext cx="2788920" cy="10972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190488" y="1060704"/>
            <a:ext cx="347472" cy="3474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90488" y="1060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592824" y="106070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Caller — Password Reset Loop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190488" y="1499616"/>
            <a:ext cx="658368" cy="219456"/>
          </a:xfrm>
          <a:prstGeom prst="rect">
            <a:avLst/>
          </a:prstGeom>
          <a:solidFill>
            <a:srgbClr val="7B61D4"/>
          </a:solidFill>
          <a:ln w="12700">
            <a:solidFill>
              <a:srgbClr val="7B61D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90488" y="149961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190488" y="1746504"/>
            <a:ext cx="25694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resolve password issue · episodic memory: caller opened 4 INC in 30 days for same issue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190488" y="2267712"/>
            <a:ext cx="658368" cy="21945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90488" y="226771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190488" y="2514600"/>
            <a:ext cx="25694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verify identity · Step 2: reset via snow_execute · Step 3: flag for root cause analysis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190488" y="3035808"/>
            <a:ext cx="658368" cy="219456"/>
          </a:xfrm>
          <a:prstGeom prst="rect">
            <a:avLst/>
          </a:prstGeom>
          <a:solidFill>
            <a:srgbClr val="B07315"/>
          </a:solidFill>
          <a:ln w="12700">
            <a:solidFill>
              <a:srgbClr val="B0731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90488" y="303580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190488" y="3282696"/>
            <a:ext cx="25694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reset executed · PRB0012034 raised automatically · caller notified with self-service link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190488" y="3803904"/>
            <a:ext cx="658368" cy="219456"/>
          </a:xfrm>
          <a:prstGeom prst="rect">
            <a:avLst/>
          </a:prstGeom>
          <a:solidFill>
            <a:srgbClr val="7A3020"/>
          </a:solidFill>
          <a:ln w="12700">
            <a:solidFill>
              <a:srgbClr val="7A302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190488" y="380390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190488" y="4050792"/>
            <a:ext cx="25694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1.0 — INC resolved + PRB raised · goal achieved on first iteration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080760" y="4581144"/>
            <a:ext cx="2788920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172200" y="458114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First-call resolution  ·  Root cause proactively raised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0" y="5001768"/>
            <a:ext cx="9144000" cy="0"/>
          </a:xfrm>
          <a:prstGeom prst="line">
            <a:avLst/>
          </a:prstGeom>
          <a:noFill/>
          <a:ln w="6350">
            <a:solidFill>
              <a:srgbClr val="5B8DE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use cases powered by: snow_api · snow_search · snow_notify · snow_execute · resolve_p1 · change_advisory skills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AgentForge — ServiceNow Use Case</dc:title>
  <dc:subject>PptxGenJS Presentation</dc:subject>
  <dc:creator>PptxGenJS</dc:creator>
  <cp:lastModifiedBy>PptxGenJS</cp:lastModifiedBy>
  <cp:revision>1</cp:revision>
  <dcterms:created xsi:type="dcterms:W3CDTF">2026-03-14T08:38:44Z</dcterms:created>
  <dcterms:modified xsi:type="dcterms:W3CDTF">2026-03-14T08:38:44Z</dcterms:modified>
</cp:coreProperties>
</file>